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88952" cy="36576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Business Automation Assistant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LLM Integration and Machine Learning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389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Rounak Gupta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846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  |  Roll No. 25SCS1003005151  |  Batch 2024–2028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257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at ADVLST  |  25 May 2026 – 10 July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Organization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3F5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ADVLST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Solutions &amp; AI Automation Company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Delhi, India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Infrastructure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Systems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Solutions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Research &amp; Development Division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26480" y="1371600"/>
            <a:ext cx="548640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55080" y="1463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75564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Machine Learning Intern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26480" y="2487168"/>
            <a:ext cx="548640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55080" y="2578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87121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Research &amp; Development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26480" y="3602736"/>
            <a:ext cx="548640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55080" y="369417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39867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May 2026 – 10 July 2026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26480" y="4718304"/>
            <a:ext cx="548640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55080" y="480974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510235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/ Work From Home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Problem Statement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handle large volumes of repetitive queries, data-processing tasks and communication workflows — rule-based automation is rigid and struggles with natural-language variability and unstructured data.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EEF1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69748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an AI-driven assistant that interprets natural-language requests, applies ML models for structured prediction, and uses LLM integration for accurate, context-aware responses supporting business-automation workflows.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34340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ML &amp; LLMs in business automation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preprocess required datasets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evaluate ML models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434340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LLMs via APIs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prompt-engineering techniques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outputs with appropriate metrics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Tools Used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F3F5FC"/>
          </a:solidFill>
          <a:ln w="12700">
            <a:solidFill>
              <a:srgbClr val="D7DE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286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70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programming language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46304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F3F5FC"/>
          </a:solidFill>
          <a:ln w="12700">
            <a:solidFill>
              <a:srgbClr val="D7DE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17720" y="1691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7720" y="2286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670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 &amp; numerical ops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146304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F3F5FC"/>
          </a:solidFill>
          <a:ln w="12700">
            <a:solidFill>
              <a:srgbClr val="D7DE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58200" y="1691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58200" y="2286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458200" y="26700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Machine-learning implementation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F3F5FC"/>
          </a:solidFill>
          <a:ln w="12700">
            <a:solidFill>
              <a:srgbClr val="D7DE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794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3891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7731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understanding &amp; generation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89120" y="356616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F3F5FC"/>
          </a:solidFill>
          <a:ln w="12700">
            <a:solidFill>
              <a:srgbClr val="D7DE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3794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617720" y="43891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617720" y="47731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Reliable, structured LLM outputs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0" y="356616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F3F5FC"/>
          </a:solidFill>
          <a:ln w="12700">
            <a:solidFill>
              <a:srgbClr val="D7DE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58200" y="3794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D5AF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458200" y="43891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458200" y="47731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data &amp; app-layer integration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743200"/>
            <a:ext cx="187452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74320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2743200"/>
            <a:ext cx="42291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846070" y="2743200"/>
            <a:ext cx="187452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846070" y="274320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4720590" y="2743200"/>
            <a:ext cx="42291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143500" y="2743200"/>
            <a:ext cx="1874520" cy="1188720"/>
          </a:xfrm>
          <a:prstGeom prst="roundRect">
            <a:avLst>
              <a:gd name="adj" fmla="val 7692"/>
            </a:avLst>
          </a:prstGeom>
          <a:solidFill>
            <a:srgbClr val="3D5AF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143500" y="274320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/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Prompt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018020" y="2743200"/>
            <a:ext cx="42291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440930" y="2743200"/>
            <a:ext cx="187452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40930" y="274320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9315450" y="2743200"/>
            <a:ext cx="42291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738360" y="2743200"/>
            <a:ext cx="187452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738360" y="274320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Output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38912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requests route to the trained ML model; natural-language requests are converted into an engineered prompt and sent to the LLM API. Both paths converge at the response-generation layer.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444240" cy="960120"/>
          </a:xfrm>
          <a:prstGeom prst="roundRect">
            <a:avLst>
              <a:gd name="adj" fmla="val 8571"/>
            </a:avLst>
          </a:prstGeom>
          <a:solidFill>
            <a:srgbClr val="F3F5FC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1581912"/>
            <a:ext cx="365760" cy="36576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1581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417320"/>
            <a:ext cx="2667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Understanding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58640" y="1417320"/>
            <a:ext cx="3444240" cy="960120"/>
          </a:xfrm>
          <a:prstGeom prst="roundRect">
            <a:avLst>
              <a:gd name="adj" fmla="val 8571"/>
            </a:avLst>
          </a:prstGeom>
          <a:solidFill>
            <a:srgbClr val="F3F5FC"/>
          </a:solidFill>
          <a:ln/>
        </p:spPr>
      </p:sp>
      <p:sp>
        <p:nvSpPr>
          <p:cNvPr id="8" name="Shape 6"/>
          <p:cNvSpPr/>
          <p:nvPr/>
        </p:nvSpPr>
        <p:spPr>
          <a:xfrm>
            <a:off x="4523232" y="1581912"/>
            <a:ext cx="365760" cy="36576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3232" y="1581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998720" y="1417320"/>
            <a:ext cx="2667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Inspection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68640" y="1417320"/>
            <a:ext cx="3444240" cy="960120"/>
          </a:xfrm>
          <a:prstGeom prst="roundRect">
            <a:avLst>
              <a:gd name="adj" fmla="val 8571"/>
            </a:avLst>
          </a:prstGeom>
          <a:solidFill>
            <a:srgbClr val="F3F5FC"/>
          </a:solidFill>
          <a:ln/>
        </p:spPr>
      </p:sp>
      <p:sp>
        <p:nvSpPr>
          <p:cNvPr id="12" name="Shape 10"/>
          <p:cNvSpPr/>
          <p:nvPr/>
        </p:nvSpPr>
        <p:spPr>
          <a:xfrm>
            <a:off x="8333232" y="1581912"/>
            <a:ext cx="365760" cy="36576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33232" y="1581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808720" y="1417320"/>
            <a:ext cx="2667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Preprocessing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697480"/>
            <a:ext cx="3444240" cy="960120"/>
          </a:xfrm>
          <a:prstGeom prst="roundRect">
            <a:avLst>
              <a:gd name="adj" fmla="val 8571"/>
            </a:avLst>
          </a:prstGeom>
          <a:solidFill>
            <a:srgbClr val="F3F5FC"/>
          </a:solidFill>
          <a:ln/>
        </p:spPr>
      </p:sp>
      <p:sp>
        <p:nvSpPr>
          <p:cNvPr id="16" name="Shape 14"/>
          <p:cNvSpPr/>
          <p:nvPr/>
        </p:nvSpPr>
        <p:spPr>
          <a:xfrm>
            <a:off x="713232" y="2862072"/>
            <a:ext cx="365760" cy="36576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3232" y="2862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697480"/>
            <a:ext cx="2667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58640" y="2697480"/>
            <a:ext cx="3444240" cy="960120"/>
          </a:xfrm>
          <a:prstGeom prst="roundRect">
            <a:avLst>
              <a:gd name="adj" fmla="val 8571"/>
            </a:avLst>
          </a:prstGeom>
          <a:solidFill>
            <a:srgbClr val="F3F5FC"/>
          </a:solidFill>
          <a:ln/>
        </p:spPr>
      </p:sp>
      <p:sp>
        <p:nvSpPr>
          <p:cNvPr id="20" name="Shape 18"/>
          <p:cNvSpPr/>
          <p:nvPr/>
        </p:nvSpPr>
        <p:spPr>
          <a:xfrm>
            <a:off x="4523232" y="2862072"/>
            <a:ext cx="365760" cy="36576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23232" y="2862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998720" y="2697480"/>
            <a:ext cx="2667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Evaluation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168640" y="2697480"/>
            <a:ext cx="3444240" cy="960120"/>
          </a:xfrm>
          <a:prstGeom prst="roundRect">
            <a:avLst>
              <a:gd name="adj" fmla="val 8571"/>
            </a:avLst>
          </a:prstGeom>
          <a:solidFill>
            <a:srgbClr val="F3F5FC"/>
          </a:solidFill>
          <a:ln/>
        </p:spPr>
      </p:sp>
      <p:sp>
        <p:nvSpPr>
          <p:cNvPr id="24" name="Shape 22"/>
          <p:cNvSpPr/>
          <p:nvPr/>
        </p:nvSpPr>
        <p:spPr>
          <a:xfrm>
            <a:off x="8333232" y="2862072"/>
            <a:ext cx="365760" cy="36576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33232" y="2862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808720" y="2697480"/>
            <a:ext cx="2667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Design &amp; LLM Integration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3977640"/>
            <a:ext cx="3444240" cy="960120"/>
          </a:xfrm>
          <a:prstGeom prst="roundRect">
            <a:avLst>
              <a:gd name="adj" fmla="val 8571"/>
            </a:avLst>
          </a:prstGeom>
          <a:solidFill>
            <a:srgbClr val="F3F5FC"/>
          </a:solidFill>
          <a:ln/>
        </p:spPr>
      </p:sp>
      <p:sp>
        <p:nvSpPr>
          <p:cNvPr id="28" name="Shape 26"/>
          <p:cNvSpPr/>
          <p:nvPr/>
        </p:nvSpPr>
        <p:spPr>
          <a:xfrm>
            <a:off x="713232" y="4142232"/>
            <a:ext cx="365760" cy="36576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13232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188720" y="3977640"/>
            <a:ext cx="2667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Testing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358640" y="3977640"/>
            <a:ext cx="3444240" cy="960120"/>
          </a:xfrm>
          <a:prstGeom prst="roundRect">
            <a:avLst>
              <a:gd name="adj" fmla="val 8571"/>
            </a:avLst>
          </a:prstGeom>
          <a:solidFill>
            <a:srgbClr val="F3F5FC"/>
          </a:solidFill>
          <a:ln/>
        </p:spPr>
      </p:sp>
      <p:sp>
        <p:nvSpPr>
          <p:cNvPr id="32" name="Shape 30"/>
          <p:cNvSpPr/>
          <p:nvPr/>
        </p:nvSpPr>
        <p:spPr>
          <a:xfrm>
            <a:off x="4523232" y="4142232"/>
            <a:ext cx="365760" cy="36576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523232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998720" y="3977640"/>
            <a:ext cx="2667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 &amp; Refinement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168640" y="3977640"/>
            <a:ext cx="3444240" cy="960120"/>
          </a:xfrm>
          <a:prstGeom prst="roundRect">
            <a:avLst>
              <a:gd name="adj" fmla="val 8571"/>
            </a:avLst>
          </a:prstGeom>
          <a:solidFill>
            <a:srgbClr val="F3F5FC"/>
          </a:solidFill>
          <a:ln/>
        </p:spPr>
      </p:sp>
      <p:sp>
        <p:nvSpPr>
          <p:cNvPr id="36" name="Shape 34"/>
          <p:cNvSpPr/>
          <p:nvPr/>
        </p:nvSpPr>
        <p:spPr>
          <a:xfrm>
            <a:off x="8333232" y="4142232"/>
            <a:ext cx="365760" cy="36576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333232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8808720" y="3977640"/>
            <a:ext cx="2667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 Measures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3291840"/>
        </p:xfrm>
        <a:graphic>
          <a:graphicData uri="http://schemas.openxmlformats.org/drawingml/2006/table">
            <a:tbl>
              <a:tblPr/>
              <a:tblGrid>
                <a:gridCol w="3840480"/>
                <a:gridCol w="72237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proportion of correct predictions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 of positive predictions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Ability to identify relevant positive cases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Combined measure of precision and recall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Relevance (LLM)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Qualitative assessment of LLM output usefulness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 &amp; Learnings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03520" cy="1325880"/>
          </a:xfrm>
          <a:prstGeom prst="roundRect">
            <a:avLst>
              <a:gd name="adj" fmla="val 6897"/>
            </a:avLst>
          </a:prstGeom>
          <a:solidFill>
            <a:srgbClr val="F3F5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4754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combining ML models and LLM-based NLP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309360" y="1417320"/>
            <a:ext cx="5303520" cy="1325880"/>
          </a:xfrm>
          <a:prstGeom prst="roundRect">
            <a:avLst>
              <a:gd name="adj" fmla="val 6897"/>
            </a:avLst>
          </a:prstGeom>
          <a:solidFill>
            <a:srgbClr val="F3F5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0" y="1417320"/>
            <a:ext cx="4754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pipeline for preprocessing &amp; feature handling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5303520" cy="1325880"/>
          </a:xfrm>
          <a:prstGeom prst="roundRect">
            <a:avLst>
              <a:gd name="adj" fmla="val 6897"/>
            </a:avLst>
          </a:prstGeom>
          <a:solidFill>
            <a:srgbClr val="F3F5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063240"/>
            <a:ext cx="4754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experience with prompt engineering &amp; LLM API integration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09360" y="3063240"/>
            <a:ext cx="5303520" cy="1325880"/>
          </a:xfrm>
          <a:prstGeom prst="roundRect">
            <a:avLst>
              <a:gd name="adj" fmla="val 6897"/>
            </a:avLst>
          </a:prstGeom>
          <a:solidFill>
            <a:srgbClr val="F3F5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3063240"/>
            <a:ext cx="4754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and evaluated ML model(s) for the chosen task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4709160"/>
            <a:ext cx="5303520" cy="1325880"/>
          </a:xfrm>
          <a:prstGeom prst="roundRect">
            <a:avLst>
              <a:gd name="adj" fmla="val 6897"/>
            </a:avLst>
          </a:prstGeom>
          <a:solidFill>
            <a:srgbClr val="F3F5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709160"/>
            <a:ext cx="4754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of end-to-end AI-automation workflow design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309360" y="4709160"/>
            <a:ext cx="5303520" cy="1325880"/>
          </a:xfrm>
          <a:prstGeom prst="roundRect">
            <a:avLst>
              <a:gd name="adj" fmla="val 6897"/>
            </a:avLst>
          </a:prstGeom>
          <a:solidFill>
            <a:srgbClr val="F3F5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0" y="4709160"/>
            <a:ext cx="4754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future enhancement (fine-tuning, scaling)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of Internship</a:t>
            </a:r>
            <a:endParaRPr lang="en-US" sz="3000" dirty="0"/>
          </a:p>
        </p:txBody>
      </p:sp>
      <p:pic>
        <p:nvPicPr>
          <p:cNvPr id="3" name="Image 0" descr="/home/claude/page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3160" y="1371600"/>
            <a:ext cx="7315200" cy="51755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2188952" cy="36576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1887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provided practical, industry-level exposure to Artificial Intelligence and Machine Learning, with a specific focus on integrating Large Language Models into business-automation workflows — combining classical ML with modern generative-AI capabilities to build real-world solutions.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120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669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Rounak Gupta  |  AI &amp; Machine Learning Intern, ADVLST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2026-09-10T10:11:00Z</dcterms:created>
  <dcterms:modified xsi:type="dcterms:W3CDTF">2026-09-10T10:11:00Z</dcterms:modified>
</cp:coreProperties>
</file>